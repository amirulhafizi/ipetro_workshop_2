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9"/>
    <p:sldId id="258" r:id="rId10"/>
  </p:sldIdLst>
  <p:sldSz cx="9906000" cy="6858000" type="A4"/>
  <p:notesSz cx="10020300" cy="68881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70">
          <p15:clr>
            <a:srgbClr val="000000"/>
          </p15:clr>
        </p15:guide>
        <p15:guide id="2" pos="3156">
          <p15:clr>
            <a:srgbClr val="000000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i63UC9Eo4fSiesXjw4TJcT6Qamg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63451D-8EB9-4A25-A082-BD28EEA32327}">
  <a:tblStyle styleId="{E763451D-8EB9-4A25-A082-BD28EEA32327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572DE-4531-42A8-A4B0-3BB0859811A2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9FA"/>
          </a:solidFill>
        </a:fill>
      </a:tcStyle>
    </a:wholeTbl>
    <a:band1H>
      <a:tcTxStyle/>
      <a:tcStyle>
        <a:tcBdr/>
        <a:fill>
          <a:solidFill>
            <a:srgbClr val="E7F3F4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F3F4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482" y="114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70"/>
        <p:guide pos="3156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7" Type="http://customschemas.google.com/relationships/presentationmetadata" Target="meta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678171" y="1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678171" y="6544030"/>
            <a:ext cx="4342131" cy="344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975" tIns="45975" rIns="91975" bIns="459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MY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336041" y="3272016"/>
            <a:ext cx="7348220" cy="3099398"/>
          </a:xfrm>
          <a:prstGeom prst="rect">
            <a:avLst/>
          </a:prstGeom>
        </p:spPr>
        <p:txBody>
          <a:bodyPr spcFirstLastPara="1" wrap="square" lIns="91975" tIns="45975" rIns="91975" bIns="45975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141663" y="515938"/>
            <a:ext cx="3732212" cy="2584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/>
          <p:nvPr/>
        </p:nvSpPr>
        <p:spPr>
          <a:xfrm>
            <a:off x="438727" y="226060"/>
            <a:ext cx="9080500" cy="6555737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Google Shape;11;p11"/>
          <p:cNvSpPr txBox="1"/>
          <p:nvPr/>
        </p:nvSpPr>
        <p:spPr>
          <a:xfrm>
            <a:off x="432127" y="-39406"/>
            <a:ext cx="9093697" cy="3067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sz="1400" b="1" u="none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INSPECTION PLAN (ON-STREAM)</a:t>
            </a:r>
            <a:endParaRPr sz="1400" b="1" u="none">
              <a:solidFill>
                <a:schemeClr val="dk1"/>
              </a:solidFill>
              <a:latin typeface="Federo"/>
              <a:ea typeface="Federo"/>
              <a:cs typeface="Federo"/>
              <a:sym typeface="Federo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1996345" y="483788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 :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11"/>
          <p:cNvSpPr/>
          <p:nvPr/>
        </p:nvSpPr>
        <p:spPr>
          <a:xfrm>
            <a:off x="6586333" y="525643"/>
            <a:ext cx="751364" cy="16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PMT.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11"/>
          <p:cNvSpPr/>
          <p:nvPr/>
        </p:nvSpPr>
        <p:spPr>
          <a:xfrm>
            <a:off x="3467200" y="1600200"/>
            <a:ext cx="1764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" name="Google Shape;15;p11"/>
          <p:cNvCxnSpPr/>
          <p:nvPr/>
        </p:nvCxnSpPr>
        <p:spPr>
          <a:xfrm>
            <a:off x="2057400" y="470015"/>
            <a:ext cx="691703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" name="Google Shape;16;p11"/>
          <p:cNvSpPr/>
          <p:nvPr/>
        </p:nvSpPr>
        <p:spPr>
          <a:xfrm>
            <a:off x="2162887" y="261378"/>
            <a:ext cx="4368133" cy="210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GENERAL INFORMATION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1"/>
          <p:cNvSpPr/>
          <p:nvPr/>
        </p:nvSpPr>
        <p:spPr>
          <a:xfrm>
            <a:off x="4840768" y="517268"/>
            <a:ext cx="728755" cy="182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Tag. No 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" name="Google Shape;18;p11"/>
          <p:cNvCxnSpPr/>
          <p:nvPr/>
        </p:nvCxnSpPr>
        <p:spPr>
          <a:xfrm>
            <a:off x="6624393" y="218985"/>
            <a:ext cx="0" cy="51859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9" name="Google Shape;19;p11"/>
          <p:cNvCxnSpPr/>
          <p:nvPr/>
        </p:nvCxnSpPr>
        <p:spPr>
          <a:xfrm>
            <a:off x="7467600" y="234978"/>
            <a:ext cx="0" cy="48952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0" name="Google Shape;20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12839" y="256494"/>
            <a:ext cx="473325" cy="3961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" name="Google Shape;21;p11"/>
          <p:cNvCxnSpPr/>
          <p:nvPr/>
        </p:nvCxnSpPr>
        <p:spPr>
          <a:xfrm>
            <a:off x="438539" y="659475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" name="Google Shape;22;p11"/>
          <p:cNvCxnSpPr/>
          <p:nvPr/>
        </p:nvCxnSpPr>
        <p:spPr>
          <a:xfrm>
            <a:off x="444807" y="6396176"/>
            <a:ext cx="907141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11"/>
          <p:cNvCxnSpPr/>
          <p:nvPr/>
        </p:nvCxnSpPr>
        <p:spPr>
          <a:xfrm>
            <a:off x="8466899" y="491196"/>
            <a:ext cx="0" cy="24295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11"/>
          <p:cNvSpPr/>
          <p:nvPr/>
        </p:nvSpPr>
        <p:spPr>
          <a:xfrm>
            <a:off x="8388193" y="519991"/>
            <a:ext cx="649340" cy="194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 00</a:t>
            </a:r>
            <a:endParaRPr sz="9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11"/>
          <p:cNvCxnSpPr/>
          <p:nvPr/>
        </p:nvCxnSpPr>
        <p:spPr>
          <a:xfrm>
            <a:off x="1447800" y="6386940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" name="Google Shape;26;p11"/>
          <p:cNvSpPr/>
          <p:nvPr/>
        </p:nvSpPr>
        <p:spPr>
          <a:xfrm>
            <a:off x="463280" y="6376509"/>
            <a:ext cx="921326" cy="2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Prepared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1"/>
          <p:cNvSpPr/>
          <p:nvPr/>
        </p:nvSpPr>
        <p:spPr>
          <a:xfrm>
            <a:off x="470785" y="659073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" name="Google Shape;28;p11"/>
          <p:cNvCxnSpPr/>
          <p:nvPr/>
        </p:nvCxnSpPr>
        <p:spPr>
          <a:xfrm>
            <a:off x="3200400" y="63961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p11"/>
          <p:cNvSpPr/>
          <p:nvPr/>
        </p:nvSpPr>
        <p:spPr>
          <a:xfrm>
            <a:off x="3175000" y="6388152"/>
            <a:ext cx="1586344" cy="2089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 and Approved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1"/>
          <p:cNvSpPr/>
          <p:nvPr/>
        </p:nvSpPr>
        <p:spPr>
          <a:xfrm>
            <a:off x="3426142" y="6610646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" name="Google Shape;31;p11"/>
          <p:cNvCxnSpPr/>
          <p:nvPr/>
        </p:nvCxnSpPr>
        <p:spPr>
          <a:xfrm>
            <a:off x="4724400" y="6381776"/>
            <a:ext cx="0" cy="3766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2" name="Google Shape;32;p11"/>
          <p:cNvSpPr/>
          <p:nvPr/>
        </p:nvSpPr>
        <p:spPr>
          <a:xfrm>
            <a:off x="6105236" y="6429328"/>
            <a:ext cx="1985820" cy="137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Acknowledge and Acc. by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" name="Google Shape;33;p11"/>
          <p:cNvCxnSpPr/>
          <p:nvPr/>
        </p:nvCxnSpPr>
        <p:spPr>
          <a:xfrm>
            <a:off x="6324600" y="6385745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" name="Google Shape;34;p11"/>
          <p:cNvCxnSpPr/>
          <p:nvPr/>
        </p:nvCxnSpPr>
        <p:spPr>
          <a:xfrm>
            <a:off x="7848600" y="6383148"/>
            <a:ext cx="0" cy="4031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5" name="Google Shape;35;p11"/>
          <p:cNvSpPr/>
          <p:nvPr/>
        </p:nvSpPr>
        <p:spPr>
          <a:xfrm>
            <a:off x="6631999" y="6607572"/>
            <a:ext cx="932294" cy="2073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342900" marR="0" lvl="0" indent="-34290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Date  </a:t>
            </a:r>
            <a:endParaRPr sz="9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11"/>
          <p:cNvCxnSpPr/>
          <p:nvPr/>
        </p:nvCxnSpPr>
        <p:spPr>
          <a:xfrm>
            <a:off x="444345" y="733734"/>
            <a:ext cx="907141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11"/>
          <p:cNvCxnSpPr/>
          <p:nvPr/>
        </p:nvCxnSpPr>
        <p:spPr>
          <a:xfrm>
            <a:off x="5440680" y="47313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8" name="Google Shape;38;p11"/>
          <p:cNvCxnSpPr/>
          <p:nvPr/>
        </p:nvCxnSpPr>
        <p:spPr>
          <a:xfrm>
            <a:off x="4907280" y="472440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9" name="Google Shape;39;p11"/>
          <p:cNvCxnSpPr/>
          <p:nvPr/>
        </p:nvCxnSpPr>
        <p:spPr>
          <a:xfrm>
            <a:off x="2057400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" name="Google Shape;40;p11"/>
          <p:cNvCxnSpPr/>
          <p:nvPr/>
        </p:nvCxnSpPr>
        <p:spPr>
          <a:xfrm>
            <a:off x="8975997" y="218304"/>
            <a:ext cx="0" cy="50827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1" name="Google Shape;41;p11"/>
          <p:cNvCxnSpPr/>
          <p:nvPr/>
        </p:nvCxnSpPr>
        <p:spPr>
          <a:xfrm>
            <a:off x="2917671" y="478692"/>
            <a:ext cx="0" cy="25504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11"/>
          <p:cNvSpPr/>
          <p:nvPr/>
        </p:nvSpPr>
        <p:spPr>
          <a:xfrm>
            <a:off x="6567861" y="272129"/>
            <a:ext cx="977960" cy="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9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PLANT UNIT:</a:t>
            </a:r>
            <a:endParaRPr sz="8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endParaRPr sz="1100" b="0" i="0" u="none" strike="noStrik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endParaRPr sz="800" b="0" i="0" u="none" strike="noStrike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49" name="Google Shape;49;p1"/>
          <p:cNvGraphicFramePr/>
          <p:nvPr>
            <p:extLst>
              <p:ext uri="{D42A27DB-BD31-4B8C-83A1-F6EECF244321}">
                <p14:modId xmlns:p14="http://schemas.microsoft.com/office/powerpoint/2010/main" val="797943614"/>
              </p:ext>
            </p:extLst>
          </p:nvPr>
        </p:nvGraphicFramePr>
        <p:xfrm>
          <a:off x="475862" y="897164"/>
          <a:ext cx="9049125" cy="1554490"/>
        </p:xfrm>
        <a:graphic>
          <a:graphicData uri="http://schemas.openxmlformats.org/drawingml/2006/table">
            <a:tbl>
              <a:tblPr firstRow="1" bandRow="1">
                <a:noFill/>
                <a:tableStyleId>{E763451D-8EB9-4A25-A082-BD28EEA32327}</a:tableStyleId>
              </a:tblPr>
              <a:tblGrid>
                <a:gridCol w="1088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0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3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34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946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0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45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079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FLUID</a:t>
                      </a:r>
                      <a:endParaRPr sz="800" b="0" u="none" strike="noStrike" cap="none" dirty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</a:rPr>
                        <a:t>                                        </a:t>
                      </a:r>
                      <a:endParaRPr sz="800" b="0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COMPONENT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DESIGN CODE</a:t>
                      </a: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 u="none" strike="noStrike" cap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 strike="noStrike" cap="none"/>
                        <a:t>                 MATERIAL </a:t>
                      </a:r>
                      <a:endParaRPr sz="800"/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INSULATED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(Y/N)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</a:rPr>
                        <a:t>OP. PARAMETER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CURRENT RISK RATING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Corrosion Group : </a:t>
                      </a:r>
                      <a:endParaRPr sz="8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sng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 Susceptible:</a:t>
                      </a: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sng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Internal Shell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>
                        <a:solidFill>
                          <a:srgbClr val="7F7F7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u="none">
                          <a:solidFill>
                            <a:srgbClr val="0070C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</a:t>
                      </a:r>
                      <a:endParaRPr sz="800" u="none">
                        <a:solidFill>
                          <a:srgbClr val="0070C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171450" marR="0" lvl="0" indent="-1714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Char char="•"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TYPE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SPEC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(֯C)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(Mpa)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WATER / STEAM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SHELL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6.9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83125" marR="83125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B05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4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WATER / STEAM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PLATE HEAD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SA-516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70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6.9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WATER / STEAM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HALF COUPLING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6.9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WATER / STEAM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FULL COUPLING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Carbon Steel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SA-105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150 C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6.9 bar G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tc vMerge="1">
                  <a:txBody>
                    <a:bodyPr/>
                    <a:lstStyle/>
                    <a:p/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3125"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83125" marR="83125" marT="45725" marB="457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3" name="Google Shape;53;p1"/>
          <p:cNvGraphicFramePr/>
          <p:nvPr/>
        </p:nvGraphicFramePr>
        <p:xfrm>
          <a:off x="475862" y="3004348"/>
          <a:ext cx="4477150" cy="2463680"/>
        </p:xfrm>
        <a:graphic>
          <a:graphicData uri="http://schemas.openxmlformats.org/drawingml/2006/table">
            <a:tbl>
              <a:tblPr firstRow="1" bandRow="1">
                <a:noFill/>
                <a:tableStyleId>{389572DE-4531-42A8-A4B0-3BB0859811A2}</a:tableStyleId>
              </a:tblPr>
              <a:tblGrid>
                <a:gridCol w="11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580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METHOD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INSPECTION COVERAGE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 b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DAMAGE MECHANISM</a:t>
                      </a:r>
                      <a:endParaRPr sz="800" b="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7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UTTM 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(Correction Factor)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100% of TML Location – Refer TML as per Attachment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0">
                          <a:latin typeface="Arial"/>
                          <a:ea typeface="Arial"/>
                          <a:cs typeface="Arial"/>
                          <a:sym typeface="Arial"/>
                        </a:rPr>
                        <a:t>General Corrosion</a:t>
                      </a: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VISUAL INSPECTION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External Visual Inspection  (100% Coverage)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b="1">
                          <a:latin typeface="Arial"/>
                          <a:ea typeface="Arial"/>
                          <a:cs typeface="Arial"/>
                          <a:sym typeface="Arial"/>
                        </a:rPr>
                        <a:t>With</a:t>
                      </a:r>
                      <a:endParaRPr sz="800" b="1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>
                          <a:latin typeface="Arial"/>
                          <a:ea typeface="Arial"/>
                          <a:cs typeface="Arial"/>
                          <a:sym typeface="Arial"/>
                        </a:rPr>
                        <a:t>follow up by UT, RT, or pit gauge as required.</a:t>
                      </a: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spcBef>
                          <a:spcPts val="800"/>
                        </a:spcBef>
                        <a:spcAft>
                          <a:spcPts val="0"/>
                        </a:spcAft>
                        <a:buNone/>
                      </a:pPr>
                      <a:endParaRPr sz="8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MY" sz="800" u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Atmospheric Corrosion</a:t>
                      </a:r>
                      <a:endParaRPr sz="800" u="non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endParaRPr sz="800" b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TextBox 53"/>
          <p:cNvSpPr txBox="1"/>
          <p:nvPr/>
        </p:nvSpPr>
        <p:spPr>
          <a:xfrm>
            <a:off x="2377440" y="502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Arial"/>
              </a:defRPr>
            </a:pPr>
            <a:r>
              <a:t>Air Receiver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latin typeface="Arial"/>
              </a:defRPr>
            </a:pPr>
            <a:r>
              <a:t>V-001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686800" y="50292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Arial"/>
              </a:defRPr>
            </a:pPr>
            <a:r>
              <a:t>MLK_PMT_10101_-_V-001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awjbsut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6999741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4_Summary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95</Words>
  <Application>Microsoft Office PowerPoint</Application>
  <PresentationFormat>A4 Paper (210x297 mm)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Federo</vt:lpstr>
      <vt:lpstr>Times New Roman</vt:lpstr>
      <vt:lpstr>4_Summary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</dc:creator>
  <cp:lastModifiedBy>Amirul Hafizi</cp:lastModifiedBy>
  <cp:revision>5</cp:revision>
  <dcterms:created xsi:type="dcterms:W3CDTF">2003-08-11T02:14:00Z</dcterms:created>
  <dcterms:modified xsi:type="dcterms:W3CDTF">2026-01-12T16:24:54Z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ocIndexRef">
    <vt:lpwstr>09506da1-5bd9-42b2-b37a-290d9738e2d2</vt:lpwstr>
  </property>
  <property fmtid="{D5CDD505-2E9C-101B-9397-08002B2CF9AE}" pid="3" name="bjSaver">
    <vt:lpwstr>j7wJqKEXWAG6n9tPB5NWuF+UG18V4TCp</vt:lpwstr>
  </property>
  <property fmtid="{D5CDD505-2E9C-101B-9397-08002B2CF9AE}" pid="4" name="bjDocumentLabelXML">
    <vt:lpwstr>&lt;?xml version="1.0" encoding="us-ascii"?&gt;&lt;sisl xmlns:xsi="http://www.w3.org/2001/XMLSchema-instance" xmlns:xsd="http://www.w3.org/2001/XMLSchema" sislVersion="0" policy="a894df29-9e07-45ae-95a6-4e7eb881815a" xmlns="http://www.boldonjames.com/2008/01/sie/i</vt:lpwstr>
  </property>
  <property fmtid="{D5CDD505-2E9C-101B-9397-08002B2CF9AE}" pid="5" name="bjDocumentLabelXML-0">
    <vt:lpwstr>nternal/label"&gt;&lt;element uid="01a40373-b9dd-4b9b-9ec4-eb7a27c52a46" value="" /&gt;&lt;/sisl&gt;</vt:lpwstr>
  </property>
  <property fmtid="{D5CDD505-2E9C-101B-9397-08002B2CF9AE}" pid="6" name="bjDocumentSecurityLabel">
    <vt:lpwstr>[Open]</vt:lpwstr>
  </property>
  <property fmtid="{D5CDD505-2E9C-101B-9397-08002B2CF9AE}" pid="7" name="DCSMetadata">
    <vt:lpwstr>P37r0n45DCS_Open</vt:lpwstr>
  </property>
  <property fmtid="{D5CDD505-2E9C-101B-9397-08002B2CF9AE}" pid="8" name="ICV">
    <vt:lpwstr>40B81A5394F64EE4895C0624F638C8CD_12</vt:lpwstr>
  </property>
  <property fmtid="{D5CDD505-2E9C-101B-9397-08002B2CF9AE}" pid="9" name="KSOProductBuildVer">
    <vt:lpwstr>1033-12.2.0.23131</vt:lpwstr>
  </property>
</Properties>
</file>